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91" r:id="rId2"/>
    <p:sldId id="315" r:id="rId3"/>
    <p:sldId id="298" r:id="rId4"/>
    <p:sldId id="304" r:id="rId5"/>
    <p:sldId id="302" r:id="rId6"/>
    <p:sldId id="312" r:id="rId7"/>
    <p:sldId id="313" r:id="rId8"/>
    <p:sldId id="314" r:id="rId9"/>
    <p:sldId id="303" r:id="rId10"/>
    <p:sldId id="301" r:id="rId11"/>
    <p:sldId id="300" r:id="rId12"/>
    <p:sldId id="309" r:id="rId13"/>
    <p:sldId id="308" r:id="rId14"/>
    <p:sldId id="307" r:id="rId15"/>
    <p:sldId id="306" r:id="rId16"/>
    <p:sldId id="305" r:id="rId17"/>
    <p:sldId id="311" r:id="rId18"/>
    <p:sldId id="310" r:id="rId1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9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B1F20A-0E91-4F52-8C26-3C89ED529BA7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556C4F-AD6F-42A9-9BD5-8241A7724DC6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6252E4-FCCE-4E6B-AA72-55BEDEFE141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F2CBD-06FF-4A5B-82B9-06241CFB871F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6D74BA-9E62-407D-AC77-B027B3B82325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933BCF-117A-4451-9361-94A503927B80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7D9EE7-8D46-46B0-A10E-53026F946C56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747BDE-EC40-4AD6-A010-5FB40BED0951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638C37-0893-4D45-9C2C-4143E7B4F7B4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B4AACB-E239-4B3E-B63C-7FB759EFFF2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73D95D-2D33-4E73-B869-E08588443BC6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4328029C-2B06-4FAD-A993-CC2F61457413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ieeexplore.ieee.org/document/6949302/?utm_source=chatgpt.co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197758/?utm_source=chatgpt.com" TargetMode="External"/><Relationship Id="rId2" Type="http://schemas.openxmlformats.org/officeDocument/2006/relationships/hyperlink" Target="https://ieeexplore.ieee.org/document/9437758/?utm_source=chatgp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084804512001397?utm_source=chatgpt.com" TargetMode="External"/><Relationship Id="rId2" Type="http://schemas.openxmlformats.org/officeDocument/2006/relationships/hyperlink" Target="https://www.sciencedirect.com/science/article/pii/S0020025512000412?utm_source=chatgp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6" y="1077490"/>
            <a:ext cx="7151694" cy="10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3315" y="1898998"/>
            <a:ext cx="10363200" cy="2076450"/>
          </a:xfrm>
        </p:spPr>
        <p:txBody>
          <a:bodyPr/>
          <a:lstStyle/>
          <a:p>
            <a:br>
              <a:rPr lang="en-US" sz="1600" b="1" i="0" dirty="0">
                <a:solidFill>
                  <a:srgbClr val="0D1117"/>
                </a:solidFill>
                <a:effectLst/>
                <a:latin typeface="Inter"/>
              </a:rPr>
            </a:b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1" name="object 3" descr="logo.png">
            <a:extLst>
              <a:ext uri="{FF2B5EF4-FFF2-40B4-BE49-F238E27FC236}">
                <a16:creationId xmlns:a16="http://schemas.microsoft.com/office/drawing/2014/main" id="{471FB4E3-B298-4386-BC00-DFD5C150EA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100" y="285750"/>
            <a:ext cx="847725" cy="857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E59461-97D4-45FB-B171-602CDC209998}"/>
              </a:ext>
            </a:extLst>
          </p:cNvPr>
          <p:cNvSpPr txBox="1"/>
          <p:nvPr/>
        </p:nvSpPr>
        <p:spPr>
          <a:xfrm>
            <a:off x="1936588" y="299452"/>
            <a:ext cx="938500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7070" algn="ctr">
              <a:lnSpc>
                <a:spcPct val="100000"/>
              </a:lnSpc>
              <a:spcBef>
                <a:spcPts val="125"/>
              </a:spcBef>
            </a:pPr>
            <a:r>
              <a:rPr lang="en-US" sz="2400" b="1" dirty="0">
                <a:latin typeface="Times New Roman"/>
                <a:cs typeface="Times New Roman"/>
              </a:rPr>
              <a:t>Department</a:t>
            </a:r>
            <a:r>
              <a:rPr lang="en-US" sz="2400" b="1" spc="-8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of</a:t>
            </a:r>
            <a:r>
              <a:rPr lang="en-US" sz="2400" b="1" spc="-70" dirty="0">
                <a:latin typeface="Times New Roman"/>
                <a:cs typeface="Times New Roman"/>
              </a:rPr>
              <a:t> Allied - </a:t>
            </a:r>
            <a:r>
              <a:rPr lang="en-US" sz="2400" b="1" dirty="0">
                <a:latin typeface="Times New Roman"/>
                <a:cs typeface="Times New Roman"/>
              </a:rPr>
              <a:t>Computer</a:t>
            </a: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Science</a:t>
            </a:r>
            <a:r>
              <a:rPr lang="en-US"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and</a:t>
            </a:r>
            <a:r>
              <a:rPr lang="en-US" sz="2400" b="1" spc="-10" dirty="0">
                <a:latin typeface="Times New Roman"/>
                <a:cs typeface="Times New Roman"/>
              </a:rPr>
              <a:t> Engineering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400" dirty="0">
                <a:latin typeface="Times New Roman"/>
                <a:cs typeface="Times New Roman"/>
              </a:rPr>
              <a:t>VIGNAN’S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LARA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INSTITUTE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8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TECHNOLOGY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SCIENCE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R="695960" algn="ctr">
              <a:lnSpc>
                <a:spcPct val="100000"/>
              </a:lnSpc>
              <a:spcBef>
                <a:spcPts val="5"/>
              </a:spcBef>
            </a:pPr>
            <a:r>
              <a:rPr lang="en-US" sz="2400" dirty="0">
                <a:latin typeface="Times New Roman"/>
                <a:cs typeface="Times New Roman"/>
              </a:rPr>
              <a:t>Project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Review</a:t>
            </a:r>
            <a:endParaRPr lang="en-US" sz="2400" dirty="0">
              <a:latin typeface="Times New Roman"/>
              <a:cs typeface="Times New Roman"/>
            </a:endParaRPr>
          </a:p>
          <a:p>
            <a:pPr marR="704215" algn="ctr">
              <a:lnSpc>
                <a:spcPct val="100000"/>
              </a:lnSpc>
              <a:spcBef>
                <a:spcPts val="5"/>
              </a:spcBef>
            </a:pPr>
            <a:r>
              <a:rPr lang="en-US" sz="2400" spc="-25" dirty="0">
                <a:latin typeface="Times New Roman"/>
                <a:cs typeface="Times New Roman"/>
              </a:rPr>
              <a:t>on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70485" marR="788035" algn="ctr">
              <a:lnSpc>
                <a:spcPct val="102400"/>
              </a:lnSpc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Sentinel: 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Self-Healing Email Threat-Detection System with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Behavioral Profiling and Multi-Signal Attacker Attribution</a:t>
            </a:r>
            <a:br>
              <a:rPr lang="en-US" sz="2000" dirty="0"/>
            </a:br>
            <a:endParaRPr lang="en-IN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C4011388-07EC-4F61-BBAD-A0FFCEA62435}"/>
              </a:ext>
            </a:extLst>
          </p:cNvPr>
          <p:cNvSpPr txBox="1"/>
          <p:nvPr/>
        </p:nvSpPr>
        <p:spPr>
          <a:xfrm>
            <a:off x="990399" y="3869677"/>
            <a:ext cx="3482975" cy="1326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Esteemed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Guidance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en-IN" sz="24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G. </a:t>
            </a:r>
            <a:r>
              <a:rPr lang="en-IN" sz="2450" b="1" spc="-10" dirty="0" err="1">
                <a:solidFill>
                  <a:srgbClr val="0C0C0C"/>
                </a:solidFill>
                <a:latin typeface="Times New Roman"/>
                <a:cs typeface="Times New Roman"/>
              </a:rPr>
              <a:t>Poojitha</a:t>
            </a:r>
            <a:r>
              <a:rPr lang="en-IN" sz="24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IN" sz="1600" spc="-10" dirty="0">
                <a:solidFill>
                  <a:srgbClr val="0C0C0C"/>
                </a:solidFill>
                <a:latin typeface="Times New Roman"/>
                <a:cs typeface="Times New Roman"/>
              </a:rPr>
              <a:t>M-tech</a:t>
            </a:r>
            <a:r>
              <a:rPr lang="en-IN" sz="24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endParaRPr sz="2450" dirty="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6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Asst. </a:t>
            </a:r>
            <a:r>
              <a:rPr sz="2000" spc="-10" dirty="0">
                <a:latin typeface="Times New Roman"/>
                <a:cs typeface="Times New Roman"/>
              </a:rPr>
              <a:t>Professor</a:t>
            </a:r>
            <a:endParaRPr sz="20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lang="en-IN" sz="200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CSE </a:t>
            </a:r>
            <a:r>
              <a:rPr sz="2000" spc="-10" dirty="0">
                <a:latin typeface="Times New Roman"/>
                <a:cs typeface="Times New Roman"/>
              </a:rPr>
              <a:t>Department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590DBDFB-6F0F-47CB-921C-12D6D815DBE0}"/>
              </a:ext>
            </a:extLst>
          </p:cNvPr>
          <p:cNvSpPr txBox="1"/>
          <p:nvPr/>
        </p:nvSpPr>
        <p:spPr>
          <a:xfrm>
            <a:off x="9610254" y="3754144"/>
            <a:ext cx="1467485" cy="186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930" marR="5080" indent="-62865" algn="just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000" b="1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Batch</a:t>
            </a:r>
            <a:r>
              <a:rPr sz="20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No:</a:t>
            </a:r>
            <a:r>
              <a:rPr sz="20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1</a:t>
            </a:r>
            <a:r>
              <a:rPr lang="en-IN"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4</a:t>
            </a:r>
            <a:r>
              <a:rPr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23FE1A44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01</a:t>
            </a:r>
            <a:endParaRPr sz="2000" dirty="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10"/>
              </a:spcBef>
            </a:pP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23FE1A44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23</a:t>
            </a:r>
            <a:endParaRPr sz="2000" dirty="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2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3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FE1A44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17</a:t>
            </a:r>
            <a:endParaRPr sz="2000" dirty="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</a:pP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2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3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FE5A44</a:t>
            </a: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39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F2AA0A62-3D11-4DB1-9102-82977DDB30E1}"/>
              </a:ext>
            </a:extLst>
          </p:cNvPr>
          <p:cNvSpPr txBox="1"/>
          <p:nvPr/>
        </p:nvSpPr>
        <p:spPr>
          <a:xfrm>
            <a:off x="4977547" y="4343959"/>
            <a:ext cx="4191000" cy="12862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503555" algn="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A. SAI</a:t>
            </a:r>
          </a:p>
          <a:p>
            <a:pPr marL="12700" marR="5080" indent="503555" algn="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K. V. K. SATWIK</a:t>
            </a:r>
          </a:p>
          <a:p>
            <a:pPr marL="12700" marR="5080" indent="503555" algn="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G. PRANAV NADH REDDY</a:t>
            </a:r>
          </a:p>
          <a:p>
            <a:pPr marL="12700" marR="5080" indent="503555" algn="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P. SIVA SHANKAR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898DC043-1B61-46BB-B475-16319D5883C8}"/>
              </a:ext>
            </a:extLst>
          </p:cNvPr>
          <p:cNvSpPr txBox="1"/>
          <p:nvPr/>
        </p:nvSpPr>
        <p:spPr>
          <a:xfrm>
            <a:off x="9080617" y="6278549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2504A6A9-8268-4514-96CD-DC2C1A506901}"/>
              </a:ext>
            </a:extLst>
          </p:cNvPr>
          <p:cNvSpPr txBox="1"/>
          <p:nvPr/>
        </p:nvSpPr>
        <p:spPr>
          <a:xfrm>
            <a:off x="3081137" y="6267759"/>
            <a:ext cx="4419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Department</a:t>
            </a:r>
            <a:r>
              <a:rPr sz="1200" spc="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lang="en-IN" sz="1200" dirty="0">
                <a:solidFill>
                  <a:srgbClr val="878787"/>
                </a:solidFill>
                <a:latin typeface="Times New Roman"/>
                <a:cs typeface="Times New Roman"/>
              </a:rPr>
              <a:t> Allied -</a:t>
            </a:r>
            <a:r>
              <a:rPr sz="1200" spc="-4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Computer</a:t>
            </a:r>
            <a:r>
              <a:rPr sz="1200" spc="-5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Science</a:t>
            </a:r>
            <a:r>
              <a:rPr sz="1200" spc="-3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&amp;</a:t>
            </a:r>
            <a:r>
              <a:rPr sz="1200" spc="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Engineering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86ACE4-801C-4365-98A5-9F10DA4F7AEC}"/>
              </a:ext>
            </a:extLst>
          </p:cNvPr>
          <p:cNvSpPr txBox="1"/>
          <p:nvPr/>
        </p:nvSpPr>
        <p:spPr>
          <a:xfrm>
            <a:off x="447040" y="1374339"/>
            <a:ext cx="112369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Project Sentinel</a:t>
            </a:r>
            <a:r>
              <a:rPr lang="en-US" sz="2400" dirty="0"/>
              <a:t> is a privacy-preserving email threat-detection system designed to detect phishing, spear-phishing, Business Email Compromise (BEC), and coordinated email attacks </a:t>
            </a:r>
            <a:r>
              <a:rPr lang="en-US" sz="2400" b="1" dirty="0"/>
              <a:t>without reading or storing email body content</a:t>
            </a:r>
            <a:r>
              <a:rPr lang="en-US" sz="2400" dirty="0"/>
              <a:t>. It analyzes only email metadata such as headers, routing information, IP addresses, and authentication results, and combines </a:t>
            </a:r>
            <a:r>
              <a:rPr lang="en-US" sz="2400" b="1" dirty="0"/>
              <a:t>Digital Twin behavioral profiling, Bayesian attacker attribution, multi-agent AI, attack-graph correlation, and a self-healing policy engine</a:t>
            </a:r>
            <a:r>
              <a:rPr lang="en-US" sz="2400" dirty="0"/>
              <a:t> to identify and respond to evolving threats.</a:t>
            </a:r>
            <a:endParaRPr lang="en-IN" sz="2400" dirty="0"/>
          </a:p>
        </p:txBody>
      </p:sp>
      <p:pic>
        <p:nvPicPr>
          <p:cNvPr id="7" name="object 3" descr="logo.png">
            <a:extLst>
              <a:ext uri="{FF2B5EF4-FFF2-40B4-BE49-F238E27FC236}">
                <a16:creationId xmlns:a16="http://schemas.microsoft.com/office/drawing/2014/main" id="{98FE65C0-EF82-466C-9DD5-9E7F38FF0A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355303-77A1-45A6-899A-5E458E10A112}"/>
              </a:ext>
            </a:extLst>
          </p:cNvPr>
          <p:cNvSpPr txBox="1"/>
          <p:nvPr/>
        </p:nvSpPr>
        <p:spPr>
          <a:xfrm>
            <a:off x="4451808" y="42650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spc="-10" dirty="0">
                <a:solidFill>
                  <a:schemeClr val="tx2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35FCE2D-8C3A-432F-82CD-26DCD0C2C71C}"/>
              </a:ext>
            </a:extLst>
          </p:cNvPr>
          <p:cNvSpPr txBox="1"/>
          <p:nvPr/>
        </p:nvSpPr>
        <p:spPr>
          <a:xfrm>
            <a:off x="9080617" y="6278549"/>
            <a:ext cx="10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276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1077490"/>
            <a:ext cx="11719199" cy="48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Compliance Dilemma: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email security tools inspect plaintext email bodies, creating legal liabilities under GDPR, HIPAA, and CCPA. Unable to inspect end-to-end encrypted (E2EE) messages.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Attacker Evasion: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easily mask origins using VPNs, Tor, residential proxies, and lookalike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domains.Single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indicator of compromise (IoC) lookups fail against fast-flux infrastructure.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Fatigue &amp; Manual Remediation: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analysts are overwhelmed with alerts; manual policy updating takes hours or days while active campaigns spread.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758620" y="151195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Problem Statement &amp; Industry Challenges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" name="object 3" descr="logo.png">
            <a:extLst>
              <a:ext uri="{FF2B5EF4-FFF2-40B4-BE49-F238E27FC236}">
                <a16:creationId xmlns:a16="http://schemas.microsoft.com/office/drawing/2014/main" id="{629013EA-0639-4C8C-B200-E53FEF55691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6" y="451191"/>
            <a:ext cx="11603048" cy="6027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Zero-Payload Threat Detection: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Operates strictly on RFC 5322 header metadata and routing envelopes—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never reads, stores, or inspects email body content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Digital Twins: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Maintains privacy-preserving sender profiles to detect behavioral deviations.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Multi-Signal Bayesian Attribution: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Fuses 8+ metadata signals to unmask VPN-backed threat actors.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Orchestration: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 cooperative AI agents perform forensic analysis, risk scoring, end-user explanation, and red-team evasion simulation.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Self-Healing: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Closes the loop by auto-updating firewall and anomaly policies in real-time.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The Proposed Solution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" name="object 3" descr="logo.png">
            <a:extLst>
              <a:ext uri="{FF2B5EF4-FFF2-40B4-BE49-F238E27FC236}">
                <a16:creationId xmlns:a16="http://schemas.microsoft.com/office/drawing/2014/main" id="{4CFB0284-9230-44A5-90CA-2765E9D9A6D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System Architecture &amp; 6-Phase Pipeline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6E9325-00CD-4F19-B079-AE15AD95B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4" y="868729"/>
            <a:ext cx="10519652" cy="5871433"/>
          </a:xfrm>
          <a:prstGeom prst="rect">
            <a:avLst/>
          </a:prstGeom>
        </p:spPr>
      </p:pic>
      <p:pic>
        <p:nvPicPr>
          <p:cNvPr id="10" name="object 3" descr="logo.png">
            <a:extLst>
              <a:ext uri="{FF2B5EF4-FFF2-40B4-BE49-F238E27FC236}">
                <a16:creationId xmlns:a16="http://schemas.microsoft.com/office/drawing/2014/main" id="{F8B05B06-5B07-4BFC-A772-31B06B890E6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6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74A14B-67B1-4ADF-B6EF-6528FF50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3A51CD-6F05-4C01-8E92-CAA5247E0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52946"/>
              </p:ext>
            </p:extLst>
          </p:nvPr>
        </p:nvGraphicFramePr>
        <p:xfrm>
          <a:off x="331285" y="1372989"/>
          <a:ext cx="11470641" cy="4963044"/>
        </p:xfrm>
        <a:graphic>
          <a:graphicData uri="http://schemas.openxmlformats.org/drawingml/2006/table">
            <a:tbl>
              <a:tblPr/>
              <a:tblGrid>
                <a:gridCol w="721360">
                  <a:extLst>
                    <a:ext uri="{9D8B030D-6E8A-4147-A177-3AD203B41FA5}">
                      <a16:colId xmlns:a16="http://schemas.microsoft.com/office/drawing/2014/main" val="270229445"/>
                    </a:ext>
                  </a:extLst>
                </a:gridCol>
                <a:gridCol w="2349653">
                  <a:extLst>
                    <a:ext uri="{9D8B030D-6E8A-4147-A177-3AD203B41FA5}">
                      <a16:colId xmlns:a16="http://schemas.microsoft.com/office/drawing/2014/main" val="3914647107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2693471302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3876677966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1398060135"/>
                    </a:ext>
                  </a:extLst>
                </a:gridCol>
              </a:tblGrid>
              <a:tr h="287474">
                <a:tc>
                  <a:txBody>
                    <a:bodyPr/>
                    <a:lstStyle/>
                    <a:p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Methodology to Overcome 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861513"/>
                  </a:ext>
                </a:extLst>
              </a:tr>
              <a:tr h="80492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Blocking Phishing e-mail by extracting header information of e-mails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Detects phishing emails by extracting and analyzing information from email headers.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protocols are not universally deployed and failed authentication does not always prevent spoofed emails from reaching users.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Extend header-only analysis with </a:t>
                      </a:r>
                      <a:r>
                        <a:rPr lang="en-US" sz="2000" b="1" dirty="0"/>
                        <a:t>Digital Twin behavioral profiling, Bayesian attribution, and attack-graph correlation</a:t>
                      </a:r>
                      <a:r>
                        <a:rPr lang="en-US" sz="2000" dirty="0"/>
                        <a:t>.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826302"/>
                  </a:ext>
                </a:extLst>
              </a:tr>
              <a:tr h="89116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Forensic analysis of E-mail address spoofing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Detects phishing emails by extracting and analyzing information from email headers.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Primarily focuses on sender spoofing and authentication; does not provide broader behavioral or coordinated-attack detection.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Combine authentication results with </a:t>
                      </a:r>
                      <a:r>
                        <a:rPr lang="en-US" sz="2000" b="1" dirty="0"/>
                        <a:t>behavioral anomaly detection, multi-agent risk scoring, and campaign correlation</a:t>
                      </a:r>
                      <a:r>
                        <a:rPr lang="en-US" sz="2000" dirty="0"/>
                        <a:t>. (</a:t>
                      </a:r>
                      <a:r>
                        <a:rPr lang="en-US" sz="2000" dirty="0">
                          <a:hlinkClick r:id="rId2" tooltip="Forensic analysis of E-mail address spoofing | IEEE Conference Publication | IEEE Xplore"/>
                        </a:rPr>
                        <a:t>IEEE Xplore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114893"/>
                  </a:ext>
                </a:extLst>
              </a:tr>
            </a:tbl>
          </a:graphicData>
        </a:graphic>
      </p:graphicFrame>
      <p:pic>
        <p:nvPicPr>
          <p:cNvPr id="4" name="object 3" descr="logo.png">
            <a:extLst>
              <a:ext uri="{FF2B5EF4-FFF2-40B4-BE49-F238E27FC236}">
                <a16:creationId xmlns:a16="http://schemas.microsoft.com/office/drawing/2014/main" id="{4CC13ACF-FB67-458A-811B-3E94DCDCDB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B97380-1C0F-490A-A45C-AD8B36678C48}"/>
              </a:ext>
            </a:extLst>
          </p:cNvPr>
          <p:cNvSpPr txBox="1"/>
          <p:nvPr/>
        </p:nvSpPr>
        <p:spPr>
          <a:xfrm>
            <a:off x="3048000" y="19595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600" b="1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Literature</a:t>
            </a:r>
            <a:r>
              <a:rPr lang="en-IN" sz="5600" b="1" spc="-105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 </a:t>
            </a:r>
            <a:r>
              <a:rPr lang="en-IN" sz="5600" b="1" spc="-10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Survey</a:t>
            </a:r>
            <a:endParaRPr lang="en-IN" sz="5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1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74A14B-67B1-4ADF-B6EF-6528FF50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0C23A7-B181-46CF-AE6D-026D89C9D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19708"/>
              </p:ext>
            </p:extLst>
          </p:nvPr>
        </p:nvGraphicFramePr>
        <p:xfrm>
          <a:off x="360679" y="2212852"/>
          <a:ext cx="11470641" cy="4019896"/>
        </p:xfrm>
        <a:graphic>
          <a:graphicData uri="http://schemas.openxmlformats.org/drawingml/2006/table">
            <a:tbl>
              <a:tblPr/>
              <a:tblGrid>
                <a:gridCol w="721360">
                  <a:extLst>
                    <a:ext uri="{9D8B030D-6E8A-4147-A177-3AD203B41FA5}">
                      <a16:colId xmlns:a16="http://schemas.microsoft.com/office/drawing/2014/main" val="334396379"/>
                    </a:ext>
                  </a:extLst>
                </a:gridCol>
                <a:gridCol w="2349653">
                  <a:extLst>
                    <a:ext uri="{9D8B030D-6E8A-4147-A177-3AD203B41FA5}">
                      <a16:colId xmlns:a16="http://schemas.microsoft.com/office/drawing/2014/main" val="1529154717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3033324486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4208099184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849963649"/>
                    </a:ext>
                  </a:extLst>
                </a:gridCol>
              </a:tblGrid>
              <a:tr h="804926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Spear Phishing Emails Detection Based on Machine Learning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Uses stylometric, forwarding-relationship and reputation features with ML classifiers to detect spear-phishing.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Requires multiple feature sources and focuses on classification of individual spear-phishing emails.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</a:t>
                      </a:r>
                      <a:r>
                        <a:rPr lang="en-US" sz="2000" b="1" dirty="0"/>
                        <a:t>privacy-preserving metadata features + Digital Twin + graph-based campaign detection</a:t>
                      </a:r>
                      <a:r>
                        <a:rPr lang="en-US" sz="2000" dirty="0"/>
                        <a:t> to identify coordinated attacks. (</a:t>
                      </a:r>
                      <a:r>
                        <a:rPr lang="en-US" sz="2000" dirty="0">
                          <a:hlinkClick r:id="rId2" tooltip="Spear Phishing Emails Detection Based on Machine Learning | IEEE Conference Publication | IEEE Xplore"/>
                        </a:rPr>
                        <a:t>IEEE Xplore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104231"/>
                  </a:ext>
                </a:extLst>
              </a:tr>
              <a:tr h="718684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Phishy</a:t>
                      </a:r>
                      <a:r>
                        <a:rPr lang="en-US" sz="2000" b="1" dirty="0"/>
                        <a:t>? Detecting Phishing Emails Using ML and NLP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Compares six ML algorithms using NLP-based features to classify phishing emails.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Depends on email-content/NLP features and does not address privacy-preserving metadata-only detection.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Avoid reading message content and instead use </a:t>
                      </a:r>
                      <a:r>
                        <a:rPr lang="en-US" sz="2000" b="1" dirty="0"/>
                        <a:t>email headers, behavioral metadata and authentication signals</a:t>
                      </a:r>
                      <a:r>
                        <a:rPr lang="en-US" sz="2000" dirty="0"/>
                        <a:t>. (</a:t>
                      </a:r>
                      <a:r>
                        <a:rPr lang="en-US" sz="2000" dirty="0">
                          <a:hlinkClick r:id="rId3" tooltip="Phishy? Detecting Phishing Emails Using ML and NLP | IEEE Conference Publication | IEEE Xplore"/>
                        </a:rPr>
                        <a:t>IEEE Xplore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072751"/>
                  </a:ext>
                </a:extLst>
              </a:tr>
            </a:tbl>
          </a:graphicData>
        </a:graphic>
      </p:graphicFrame>
      <p:pic>
        <p:nvPicPr>
          <p:cNvPr id="4" name="object 3" descr="logo.png">
            <a:extLst>
              <a:ext uri="{FF2B5EF4-FFF2-40B4-BE49-F238E27FC236}">
                <a16:creationId xmlns:a16="http://schemas.microsoft.com/office/drawing/2014/main" id="{7D56CC7F-3557-4C88-A129-E83F60A0BED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6CBFF-CD4B-4E8B-A2C7-E8C4E1122B20}"/>
              </a:ext>
            </a:extLst>
          </p:cNvPr>
          <p:cNvSpPr txBox="1"/>
          <p:nvPr/>
        </p:nvSpPr>
        <p:spPr>
          <a:xfrm>
            <a:off x="3048000" y="19595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600" b="1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Literature</a:t>
            </a:r>
            <a:r>
              <a:rPr lang="en-IN" sz="5600" b="1" spc="-105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 </a:t>
            </a:r>
            <a:r>
              <a:rPr lang="en-IN" sz="5600" b="1" spc="-10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Survey</a:t>
            </a:r>
            <a:endParaRPr lang="en-IN" sz="5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434878-C2FC-4A09-B2AF-855778447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847843"/>
              </p:ext>
            </p:extLst>
          </p:nvPr>
        </p:nvGraphicFramePr>
        <p:xfrm>
          <a:off x="364502" y="1574504"/>
          <a:ext cx="11470641" cy="638348"/>
        </p:xfrm>
        <a:graphic>
          <a:graphicData uri="http://schemas.openxmlformats.org/drawingml/2006/table">
            <a:tbl>
              <a:tblPr/>
              <a:tblGrid>
                <a:gridCol w="721360">
                  <a:extLst>
                    <a:ext uri="{9D8B030D-6E8A-4147-A177-3AD203B41FA5}">
                      <a16:colId xmlns:a16="http://schemas.microsoft.com/office/drawing/2014/main" val="1304190202"/>
                    </a:ext>
                  </a:extLst>
                </a:gridCol>
                <a:gridCol w="2349653">
                  <a:extLst>
                    <a:ext uri="{9D8B030D-6E8A-4147-A177-3AD203B41FA5}">
                      <a16:colId xmlns:a16="http://schemas.microsoft.com/office/drawing/2014/main" val="2163822056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1990217303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4049127223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1909280955"/>
                    </a:ext>
                  </a:extLst>
                </a:gridCol>
              </a:tblGrid>
              <a:tr h="287474">
                <a:tc>
                  <a:txBody>
                    <a:bodyPr/>
                    <a:lstStyle/>
                    <a:p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Methodology to Overcome 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37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79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FE7DA1-28C2-4E62-BB62-71B20758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F884A5-760B-4E47-B618-A328DC347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9213"/>
              </p:ext>
            </p:extLst>
          </p:nvPr>
        </p:nvGraphicFramePr>
        <p:xfrm>
          <a:off x="331285" y="2362398"/>
          <a:ext cx="11480801" cy="341029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142967855"/>
                    </a:ext>
                  </a:extLst>
                </a:gridCol>
                <a:gridCol w="2349653">
                  <a:extLst>
                    <a:ext uri="{9D8B030D-6E8A-4147-A177-3AD203B41FA5}">
                      <a16:colId xmlns:a16="http://schemas.microsoft.com/office/drawing/2014/main" val="2103799849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3652788357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2304299872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4113318232"/>
                    </a:ext>
                  </a:extLst>
                </a:gridCol>
              </a:tblGrid>
              <a:tr h="718684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Segmental </a:t>
                      </a:r>
                      <a:r>
                        <a:rPr lang="en-US" sz="2000" b="1" dirty="0" err="1"/>
                        <a:t>parameterisation</a:t>
                      </a:r>
                      <a:r>
                        <a:rPr lang="en-US" sz="2000" b="1" dirty="0"/>
                        <a:t> and statistical modelling of e-mail headers for spam detection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Performs spam filtering using </a:t>
                      </a:r>
                      <a:r>
                        <a:rPr lang="en-US" sz="2000" b="1" dirty="0"/>
                        <a:t>only email-header information</a:t>
                      </a:r>
                      <a:r>
                        <a:rPr lang="en-US" sz="2000" dirty="0"/>
                        <a:t>, motivated partly by privacy concerns.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Focuses on statistical header-based spam filtering rather than phishing/BEC, behavioral profiling or coordinated campaigns.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Extend header-only detection with </a:t>
                      </a:r>
                      <a:r>
                        <a:rPr lang="en-US" sz="2000" b="1" dirty="0"/>
                        <a:t>Digital Twins, Bayesian attribution and multi-agent threat analysis</a:t>
                      </a:r>
                      <a:r>
                        <a:rPr lang="en-US" sz="2000" dirty="0"/>
                        <a:t>. (</a:t>
                      </a:r>
                      <a:r>
                        <a:rPr lang="en-US" sz="2000" dirty="0">
                          <a:hlinkClick r:id="rId2" tooltip="Segmental parameterisation and statistical modelling of e-mail headers for spam detection - ScienceDirect"/>
                        </a:rPr>
                        <a:t>ScienceDirect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54978"/>
                  </a:ext>
                </a:extLst>
              </a:tr>
              <a:tr h="804926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 multi-tier phishing detection and filtering approach</a:t>
                      </a:r>
                      <a:endParaRPr lang="en-US" sz="2000" dirty="0"/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Uses weighted features from message content and headers with a multi-tier classification model.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Uses message content, so it does not provide a strictly privacy-preserving metadata-only architecture.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Restrict analysis to metadata and add </a:t>
                      </a:r>
                      <a:r>
                        <a:rPr lang="en-US" sz="2000" b="1" dirty="0"/>
                        <a:t>behavioral anomaly detection and self-healing policies</a:t>
                      </a:r>
                      <a:r>
                        <a:rPr lang="en-US" sz="2000" dirty="0"/>
                        <a:t>. (</a:t>
                      </a:r>
                      <a:r>
                        <a:rPr lang="en-US" sz="2000" dirty="0">
                          <a:hlinkClick r:id="rId3" tooltip="A multi-tier phishing detection and filtering approach - ScienceDirect"/>
                        </a:rPr>
                        <a:t>ScienceDirect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432157"/>
                  </a:ext>
                </a:extLst>
              </a:tr>
            </a:tbl>
          </a:graphicData>
        </a:graphic>
      </p:graphicFrame>
      <p:pic>
        <p:nvPicPr>
          <p:cNvPr id="4" name="object 3" descr="logo.png">
            <a:extLst>
              <a:ext uri="{FF2B5EF4-FFF2-40B4-BE49-F238E27FC236}">
                <a16:creationId xmlns:a16="http://schemas.microsoft.com/office/drawing/2014/main" id="{6026E9C4-43C6-4978-A2B7-5E80AA8DA98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C284A-D590-4FFF-A833-BB304241C810}"/>
              </a:ext>
            </a:extLst>
          </p:cNvPr>
          <p:cNvSpPr txBox="1"/>
          <p:nvPr/>
        </p:nvSpPr>
        <p:spPr>
          <a:xfrm>
            <a:off x="3048000" y="19595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600" b="1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Literature</a:t>
            </a:r>
            <a:r>
              <a:rPr lang="en-IN" sz="5600" b="1" spc="-105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 </a:t>
            </a:r>
            <a:r>
              <a:rPr lang="en-IN" sz="5600" b="1" spc="-10" dirty="0">
                <a:solidFill>
                  <a:schemeClr val="tx2"/>
                </a:solidFill>
                <a:latin typeface="Garamond" panose="02020404030301010803" pitchFamily="18" charset="0"/>
                <a:cs typeface="Calibri"/>
              </a:rPr>
              <a:t>Survey</a:t>
            </a:r>
            <a:endParaRPr lang="en-IN" sz="5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9F371A-9B04-443E-94C1-083B5594E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08162"/>
              </p:ext>
            </p:extLst>
          </p:nvPr>
        </p:nvGraphicFramePr>
        <p:xfrm>
          <a:off x="331285" y="1724050"/>
          <a:ext cx="11470641" cy="638348"/>
        </p:xfrm>
        <a:graphic>
          <a:graphicData uri="http://schemas.openxmlformats.org/drawingml/2006/table">
            <a:tbl>
              <a:tblPr/>
              <a:tblGrid>
                <a:gridCol w="721360">
                  <a:extLst>
                    <a:ext uri="{9D8B030D-6E8A-4147-A177-3AD203B41FA5}">
                      <a16:colId xmlns:a16="http://schemas.microsoft.com/office/drawing/2014/main" val="1304190202"/>
                    </a:ext>
                  </a:extLst>
                </a:gridCol>
                <a:gridCol w="2349653">
                  <a:extLst>
                    <a:ext uri="{9D8B030D-6E8A-4147-A177-3AD203B41FA5}">
                      <a16:colId xmlns:a16="http://schemas.microsoft.com/office/drawing/2014/main" val="2163822056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1990217303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4049127223"/>
                    </a:ext>
                  </a:extLst>
                </a:gridCol>
                <a:gridCol w="2799876">
                  <a:extLst>
                    <a:ext uri="{9D8B030D-6E8A-4147-A177-3AD203B41FA5}">
                      <a16:colId xmlns:a16="http://schemas.microsoft.com/office/drawing/2014/main" val="1909280955"/>
                    </a:ext>
                  </a:extLst>
                </a:gridCol>
              </a:tblGrid>
              <a:tr h="287474">
                <a:tc>
                  <a:txBody>
                    <a:bodyPr/>
                    <a:lstStyle/>
                    <a:p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Methodology to Overcome Drawbacks</a:t>
                      </a:r>
                    </a:p>
                  </a:txBody>
                  <a:tcPr marL="28747" marR="28747" marT="14374" marB="143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37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43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435456" y="1018469"/>
            <a:ext cx="11509615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Forensic Parser (email_parser.py):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30+ metadata fields: hop-by-hop Received: chains, SPF/DKIM/DMARC authentication results, ARC chains, X-Originating-IP, client User-Agents, and MIME encoding structures.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privacy constraint: MIME body parts (text/plain, text/html) are explicitly dropped.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1300568" y="37393"/>
            <a:ext cx="10891432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b-NO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1 &amp; 2 — Forensic Parser &amp; Digital Twins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EBC0E-FC4C-4281-AA44-41E933A49C0C}"/>
              </a:ext>
            </a:extLst>
          </p:cNvPr>
          <p:cNvSpPr txBox="1"/>
          <p:nvPr/>
        </p:nvSpPr>
        <p:spPr>
          <a:xfrm>
            <a:off x="435456" y="2869062"/>
            <a:ext cx="10745687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Behavioral Digital Twin (digital_twin_builder.py):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Profiles 7 behavioral dimensions: Sending Hours (UTC), Weekday distribution, IP /24 subnet prefixes, Send frequency, Contact network (SHA-256 hashed), Domain patterns, and Charset transitions.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Anomaly Fusion: {Anomaly} = 0.20({Hour}) + 0.15({Day}) + 0.25({IP}) + 0.15({Freq}) + 0.10({Domain}) + 0.10({Charset}) + 0.05({Subject})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&gt; 0.50 Elevated scrutiny; Anomaly $&gt; 0.70 Self-healing trigger.</a:t>
            </a:r>
          </a:p>
        </p:txBody>
      </p:sp>
      <p:pic>
        <p:nvPicPr>
          <p:cNvPr id="13" name="object 3" descr="logo.png">
            <a:extLst>
              <a:ext uri="{FF2B5EF4-FFF2-40B4-BE49-F238E27FC236}">
                <a16:creationId xmlns:a16="http://schemas.microsoft.com/office/drawing/2014/main" id="{B077E479-1502-40FF-AAB4-26D2ABE5668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76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927936"/>
            <a:ext cx="11719199" cy="536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Defeating VPN &amp; Proxy Evasion: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IP geolocation is easily bypassed with VPNs. Sentinel fuses 8 independent forensic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Combined: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X-Originating-IP &amp; Relay hop IPs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offset in Date: header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MIME Charset encoding distributions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registrar TLD &amp; ASNs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Inter-hop routing latency &amp; Geographic timing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Posterior Formulation: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P({Country}/{Signals}) = P({Signals}/{Country}) * P({Country})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evade attribution, an attacker must falsify all 8 layers simultaneously rather than simply switching their proxy IP.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1242960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3 — Bayesian Attacker Attribution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" name="object 3" descr="logo.png">
            <a:extLst>
              <a:ext uri="{FF2B5EF4-FFF2-40B4-BE49-F238E27FC236}">
                <a16:creationId xmlns:a16="http://schemas.microsoft.com/office/drawing/2014/main" id="{B61C4ADB-E5BE-49AD-9996-B90875D4758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7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1077490"/>
            <a:ext cx="11579063" cy="4881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4-Agent Architecture (powered by </a:t>
            </a:r>
            <a:r>
              <a:rPr lang="en-IN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GPT-4 + deterministic fallbacks):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Agent (Forensic Analyst):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SPF/DKIM/DMARC, display-name spoofing,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lookalike domains, header injection, and suspicious relay hop counts (Score 0–100).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Agent (Decision Engine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Fuses forensic score with Digital Twin anomaly score: {Risk Score} = 0.6 *{Detection} + 0.4 * ({Anomaly} * 100) 0–35: ALLOW | 35–50: REVIEW | 50–75: ALERT | 75–100: QUARANTINE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Agent (Communicator):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transparent, plain-English explanations for end users and non-technical staff.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Agent (Red-Team Challenger):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 bypass strategies against the current detection and feeds evasion intelligence directly to the Self-Healing engine.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1163630" y="117838"/>
            <a:ext cx="10363200" cy="85757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it-IT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4 — Multi-Agent AI Orchestration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" name="object 3" descr="logo.png">
            <a:extLst>
              <a:ext uri="{FF2B5EF4-FFF2-40B4-BE49-F238E27FC236}">
                <a16:creationId xmlns:a16="http://schemas.microsoft.com/office/drawing/2014/main" id="{DF0B7ECE-D162-4228-8212-01CEA6C4D8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1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617" y="1332133"/>
            <a:ext cx="11532765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— Attack Graph Correlator (attack_graph.py):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Models entities (email,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domain, subnet,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msgid_domain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a directed graph.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Discovers coordinated phishing waves across distributed senders via Degree and Betweenness Centrality.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campaigns when 3$ emails share infrastructure hubs.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— Autonomous Self-Healing (self_healing.py):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human response delays through autonomous policy adaptation: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75$ (Quarantine): Auto-appends malicious IP &amp; domain to firewall blocklists.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feedback: Dynamically tightens anomaly thresholds and expands suspicious hour matrices.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full, tamper-evident audit log for SOC governance.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86233" y="-212984"/>
            <a:ext cx="11136085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5 &amp; 6 — Attack Graphs &amp; Self-Healing Defense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81216D38-85F0-4D6D-836C-3C0F9C9E247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42301" y="-51576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Technology Stack &amp; Implementation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49D1124-50EE-4230-B418-EB8A85924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611"/>
              </p:ext>
            </p:extLst>
          </p:nvPr>
        </p:nvGraphicFramePr>
        <p:xfrm>
          <a:off x="914399" y="1048837"/>
          <a:ext cx="10104699" cy="5486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68233">
                  <a:extLst>
                    <a:ext uri="{9D8B030D-6E8A-4147-A177-3AD203B41FA5}">
                      <a16:colId xmlns:a16="http://schemas.microsoft.com/office/drawing/2014/main" val="3857567538"/>
                    </a:ext>
                  </a:extLst>
                </a:gridCol>
                <a:gridCol w="3368233">
                  <a:extLst>
                    <a:ext uri="{9D8B030D-6E8A-4147-A177-3AD203B41FA5}">
                      <a16:colId xmlns:a16="http://schemas.microsoft.com/office/drawing/2014/main" val="4042805539"/>
                    </a:ext>
                  </a:extLst>
                </a:gridCol>
                <a:gridCol w="3368233">
                  <a:extLst>
                    <a:ext uri="{9D8B030D-6E8A-4147-A177-3AD203B41FA5}">
                      <a16:colId xmlns:a16="http://schemas.microsoft.com/office/drawing/2014/main" val="2542042294"/>
                    </a:ext>
                  </a:extLst>
                </a:gridCol>
              </a:tblGrid>
              <a:tr h="365286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Purpose &amp; Rationale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124472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Backend API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FastAPI</a:t>
                      </a:r>
                      <a:r>
                        <a:rPr lang="en-IN">
                          <a:effectLst/>
                        </a:rPr>
                        <a:t> (Python)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High-performance asynchronous routing, </a:t>
                      </a:r>
                      <a:r>
                        <a:rPr lang="en-US" dirty="0" err="1">
                          <a:effectLst/>
                        </a:rPr>
                        <a:t>OpenAPI</a:t>
                      </a:r>
                      <a:r>
                        <a:rPr lang="en-US" dirty="0">
                          <a:effectLst/>
                        </a:rPr>
                        <a:t>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313695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Agent Orchestration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CrewAI / GPT-4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Multi-agent reasoning with deterministic rule fallback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621514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Graph Analytics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NetworkX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Real-time centrality and campaign clustering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94289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Mathematical Engine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NumPy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Vectorized Bayesian probability &amp; anomaly z-score math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120926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Frontend Dashboard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Next.js 14 &amp; Tailwind CSS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Server-side rendering, responsive dark-mode cyber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292351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Visualizations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D3.js &amp; Recharts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Dynamic force-directed attack graphs and threat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769815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Live Streaming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WebSockets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Sub-second telemetry push from backend to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80991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Deployment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Docker Compose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Containerized full-stack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2393"/>
                  </a:ext>
                </a:extLst>
              </a:tr>
            </a:tbl>
          </a:graphicData>
        </a:graphic>
      </p:graphicFrame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C0FC9C87-DFA0-4805-BFD6-0199E9FBFCD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8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4589974"/>
            <a:ext cx="1153276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categorized 98.7% of suspicious samples for human-in-the-loop review.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grouped disparate emails into 4,644 correlated campaigns through shared relay nodes and domains.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23448" y="-552178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Experimental Results &amp; Dataset Benchmark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FDBA669-2B2C-4C25-9BB7-ACF0BADC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48162"/>
              </p:ext>
            </p:extLst>
          </p:nvPr>
        </p:nvGraphicFramePr>
        <p:xfrm>
          <a:off x="1064871" y="1076446"/>
          <a:ext cx="9919504" cy="34029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59752">
                  <a:extLst>
                    <a:ext uri="{9D8B030D-6E8A-4147-A177-3AD203B41FA5}">
                      <a16:colId xmlns:a16="http://schemas.microsoft.com/office/drawing/2014/main" val="2722843037"/>
                    </a:ext>
                  </a:extLst>
                </a:gridCol>
                <a:gridCol w="4959752">
                  <a:extLst>
                    <a:ext uri="{9D8B030D-6E8A-4147-A177-3AD203B41FA5}">
                      <a16:colId xmlns:a16="http://schemas.microsoft.com/office/drawing/2014/main" val="420381897"/>
                    </a:ext>
                  </a:extLst>
                </a:gridCol>
              </a:tblGrid>
              <a:tr h="486136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Measured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270190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Total Ingested Emails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7,446 emails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686834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Successfully Processed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6,741 emails (90.53%)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60652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Processing Throughput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16.1 emails / second</a:t>
                      </a:r>
                      <a:r>
                        <a:rPr lang="en-US" dirty="0">
                          <a:effectLst/>
                        </a:rPr>
                        <a:t> (461s total runtime)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450185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Average Decision Latency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1,238 </a:t>
                      </a:r>
                      <a:r>
                        <a:rPr lang="en-IN" b="1" dirty="0" err="1">
                          <a:effectLst/>
                        </a:rPr>
                        <a:t>ms</a:t>
                      </a:r>
                      <a:r>
                        <a:rPr lang="en-IN" b="1" dirty="0">
                          <a:effectLst/>
                        </a:rPr>
                        <a:t> per email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113142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Coordinated Campaigns Detected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4,644 campaigns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16539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Decision Breakdown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98.7% REVIEW</a:t>
                      </a:r>
                      <a:r>
                        <a:rPr lang="en-US" dirty="0">
                          <a:effectLst/>
                        </a:rPr>
                        <a:t>, 1.2% ALLOW, 0.1% 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032253"/>
                  </a:ext>
                </a:extLst>
              </a:tr>
            </a:tbl>
          </a:graphicData>
        </a:graphic>
      </p:graphicFrame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A937F5D9-903C-4909-8163-15972AC137B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567489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Privacy by Design: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email body, attachment payload, or message text is ever parsed, decrypted, or stored.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transparent MTA-level proxies and end-to-end encrypted email systems.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Minimization &amp; Anonymization: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Recipient and contact networks stored solely as SHA-256 one-way hashes.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addresses coarsened to /24 CIDR blocks to prevent user location 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Ready: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compliance alignment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 (Article 5 &amp; 25), HIPAA, and CCPA.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84082" y="-50531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Privacy &amp; Security Architecture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A3502534-A658-47D7-9F24-2AA19E2D843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65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509615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Window: Digital Twins require ~20 baseline emails to reach optimal confidence.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 Edge Cases: 9.47% malformed RFC-noncompliant headers produced parse errors.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MIME Parser: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Self-recovering fallback parsers for corrupted headers.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Digital Twins: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Cross-organization threat intelligence sharing with differential privacy.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SHAP-value feature attribution overlays for SOC analysts.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Client Integrations: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plugins for Microsoft 365, Google Workspace, and Thunderbird.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Limitations &amp; Future Roadmap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57E2DF70-C35D-405E-A4CF-55D5544632E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53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440167" cy="4062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Without Spying: Proved email headers provide ample telemetry for threat classification without touching message bodies.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Attribution: Bayesian multi-signal fusion overcomes VPN and proxy obfuscation.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Resilience: Multi-agent reasoning coupled with self-healing rules shrinks incident response time from days to milliseconds.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Conclusion &amp; Key Highlights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F45349A8-152C-4993-BB44-2219DA133C7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78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636937" cy="3564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  <a:p>
            <a:pPr algn="ctr">
              <a:lnSpc>
                <a:spcPct val="15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Q&amp;A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object 3" descr="logo.png">
            <a:extLst>
              <a:ext uri="{FF2B5EF4-FFF2-40B4-BE49-F238E27FC236}">
                <a16:creationId xmlns:a16="http://schemas.microsoft.com/office/drawing/2014/main" id="{0CF12535-6374-4BE8-9DF3-A85A62A132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85" y="169039"/>
            <a:ext cx="8477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5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1745</Words>
  <Application>Microsoft Office PowerPoint</Application>
  <PresentationFormat>Widescreen</PresentationFormat>
  <Paragraphs>201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Garamond</vt:lpstr>
      <vt:lpstr>Inter</vt:lpstr>
      <vt:lpstr>Times New Roman</vt:lpstr>
      <vt:lpstr>TradeGothic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5 &amp; 6 — Attack Graphs &amp; Self-Healing Defense</vt:lpstr>
      <vt:lpstr>Technology Stack &amp; Implementation</vt:lpstr>
      <vt:lpstr>Experimental Results &amp; Dataset Benchmark</vt:lpstr>
      <vt:lpstr>Privacy &amp; Security Architecture</vt:lpstr>
      <vt:lpstr>Limitations &amp; Future Roadmap</vt:lpstr>
      <vt:lpstr>Conclusion &amp; Key Highlights</vt:lpstr>
      <vt:lpstr>Q&amp;A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 akkala</cp:lastModifiedBy>
  <cp:revision>180</cp:revision>
  <dcterms:created xsi:type="dcterms:W3CDTF">2013-12-12T18:46:50Z</dcterms:created>
  <dcterms:modified xsi:type="dcterms:W3CDTF">2026-09-12T04:59:43Z</dcterms:modified>
  <cp:category/>
</cp:coreProperties>
</file>