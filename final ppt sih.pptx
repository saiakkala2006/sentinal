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91" r:id="rId2"/>
    <p:sldId id="298" r:id="rId3"/>
    <p:sldId id="304" r:id="rId4"/>
    <p:sldId id="302" r:id="rId5"/>
    <p:sldId id="303" r:id="rId6"/>
    <p:sldId id="301" r:id="rId7"/>
    <p:sldId id="300" r:id="rId8"/>
    <p:sldId id="309" r:id="rId9"/>
    <p:sldId id="308" r:id="rId10"/>
    <p:sldId id="307" r:id="rId11"/>
    <p:sldId id="306" r:id="rId12"/>
    <p:sldId id="305" r:id="rId13"/>
    <p:sldId id="311" r:id="rId14"/>
    <p:sldId id="310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55217C-FC94-4D39-370F-910BB4839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149" y="851512"/>
            <a:ext cx="4894840" cy="52681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6" y="1077490"/>
            <a:ext cx="7151694" cy="4919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SIH26106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Email Threat Detection,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GeoLocation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Forensic Intelligence Platform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&amp; Cybersecurity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Raashi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C4ADAD-2136-4D9A-9037-30ABBBFB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85ED89A3-D84E-4781-A2C4-DFF22702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331285" y="1077490"/>
            <a:ext cx="11719199" cy="4821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Compliance Dilemma: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email security tools inspect plaintext email bodies, creating legal liabilities under GDPR, HIPAA, and CCPA. Unable to inspect end-to-end encrypted (E2EE) messages.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Sophisticated Attacker Evasion: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easily mask origins using VPNs, Tor, residential proxies, and lookalike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domains.Single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-point indicator of compromise (IoC) lookups fail against fast-flux infrastructure.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Fatigue &amp; Manual Remediation: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analysts are overwhelmed with alerts; manual policy updating takes hours or days while active campaigns spread.</a:t>
            </a:r>
          </a:p>
        </p:txBody>
      </p:sp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957854B1-832E-45E6-9260-83573331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528232" y="117838"/>
            <a:ext cx="10363200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Problem Statement &amp; Industry Challenges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808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C4ADAD-2136-4D9A-9037-30ABBBFB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85ED89A3-D84E-4781-A2C4-DFF22702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331286" y="451191"/>
            <a:ext cx="11603048" cy="658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Zero-Payload Threat Detection: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Operates strictly on RFC 5322 header metadata and routing envelopes—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never reads, stores, or inspects email body content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Digital Twins: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Maintains privacy-preserving sender profiles to detect behavioral deviations.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Multi-Signal Bayesian Attribution: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Fuses 8+ metadata signals to unmask VPN-backed threat actors.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 Orchestration: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4 cooperative AI agents perform forensic analysis, risk scoring, end-user explanation, and red-team evasion simulation.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Self-Healing: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Closes the loop by auto-updating firewall and anomaly policies in real-time.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957854B1-832E-45E6-9260-83573331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528232" y="117838"/>
            <a:ext cx="10363200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The Proposed Solution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93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C4ADAD-2136-4D9A-9037-30ABBBFB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85ED89A3-D84E-4781-A2C4-DFF22702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957854B1-832E-45E6-9260-83573331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528232" y="117838"/>
            <a:ext cx="10363200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System Architecture &amp; 6-Phase Pipeline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6E9325-00CD-4F19-B079-AE15AD95B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74" y="868729"/>
            <a:ext cx="10519652" cy="587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6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C4ADAD-2136-4D9A-9037-30ABBBFB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85ED89A3-D84E-4781-A2C4-DFF22702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435456" y="766766"/>
            <a:ext cx="11509615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— Forensic Parser (email_parser.py):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30+ metadata fields: hop-by-hop Received: chains, SPF/DKIM/DMARC authentication results, ARC chains, X-Originating-IP, client User-Agents, and MIME encoding structures.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privacy constraint: MIME body parts (text/plain, text/html) are explicitly dropped.</a:t>
            </a:r>
          </a:p>
        </p:txBody>
      </p:sp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957854B1-832E-45E6-9260-83573331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0" y="117838"/>
            <a:ext cx="10891432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b-NO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Phase 1 &amp; 2 — Forensic Parser &amp; Digital Twins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EBC0E-FC4C-4281-AA44-41E933A49C0C}"/>
              </a:ext>
            </a:extLst>
          </p:cNvPr>
          <p:cNvSpPr txBox="1"/>
          <p:nvPr/>
        </p:nvSpPr>
        <p:spPr>
          <a:xfrm>
            <a:off x="435456" y="2600772"/>
            <a:ext cx="10745687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— Behavioral Digital Twin (digital_twin_builder.py):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Profiles 7 behavioral dimensions: Sending Hours (UTC), Weekday distribution, IP /24 subnet prefixes, Send frequency, Contact network (SHA-256 hashed), Domain patterns, and Charset transitions.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Anomaly Fusion: {Anomaly} = 0.20({Hour}) + 0.15({Day}) + 0.25({IP}) + 0.15({Freq}) + 0.10({Domain}) + 0.10({Charset}) + 0.05({Subject})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&gt; 0.50 Elevated scrutiny; Anomaly $&gt; 0.70 Self-healing trigger..</a:t>
            </a:r>
          </a:p>
        </p:txBody>
      </p:sp>
    </p:spTree>
    <p:extLst>
      <p:ext uri="{BB962C8B-B14F-4D97-AF65-F5344CB8AC3E}">
        <p14:creationId xmlns:p14="http://schemas.microsoft.com/office/powerpoint/2010/main" val="2712276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C4ADAD-2136-4D9A-9037-30ABBBFB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85ED89A3-D84E-4781-A2C4-DFF22702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331285" y="698995"/>
            <a:ext cx="11719199" cy="536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Defeating VPN &amp; Proxy Evasion: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IP geolocation is easily bypassed with VPNs. Sentinel fuses 8 independent forensic signals.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Combined: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X-Originating-IP &amp; Relay hop IPs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UTC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Timezone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offset in Date: header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MIME Charset encoding distributions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registrar TLD &amp; ASNs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Inter-hop routing latency &amp; Geographic timing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Posterior Formulation: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P({Country}/{Signals}) = P({Signals}/{Country}) * P({Country})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evade attribution, an attacker must falsify all 8 layers simultaneously rather than simply switching their proxy IP.</a:t>
            </a:r>
          </a:p>
        </p:txBody>
      </p:sp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957854B1-832E-45E6-9260-83573331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528232" y="117838"/>
            <a:ext cx="10363200" cy="207645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Phase 3 — Bayesian Attacker Attribution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17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C4ADAD-2136-4D9A-9037-30ABBBFB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BD401-23A9-4FC3-9456-50175903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81ECB-D480-4258-BC7E-DEAA51807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85ED89A3-D84E-4781-A2C4-DFF22702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1485-6556-4B77-98A3-6366A2D1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08004-3EAD-4EE1-973B-C6D14D1008A3}"/>
              </a:ext>
            </a:extLst>
          </p:cNvPr>
          <p:cNvSpPr txBox="1"/>
          <p:nvPr/>
        </p:nvSpPr>
        <p:spPr>
          <a:xfrm>
            <a:off x="331285" y="1077490"/>
            <a:ext cx="11579063" cy="4881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4-Agent Architecture (powered by </a:t>
            </a:r>
            <a:r>
              <a:rPr lang="en-IN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CrewAI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GPT-4 + deterministic fallbacks):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Agent (Forensic Analyst):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SPF/DKIM/DMARC, display-name spoofing,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lookalike domains, header injection, and suspicious relay hop counts (Score 0–100).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Agent (Decision Engine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Fuses forensic score with Digital Twin anomaly score: {Risk Score} = 0.6 *{Detection} + 0.4 </a:t>
            </a: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* ({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Anomaly} * 100)$$ 0–35: ALLOW | 35–50: REVIEW | 50–75: ALERT | 75–100: QUARANTINE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Agent (Communicator):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transparent, plain-English explanations for end users and non-technical staff.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Agent (Red-Team Challenger):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Simulates bypass strategies against the current detection and feeds evasion intelligence directly to the Self-Healing engine.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https://www.sih.gov.in/img1/SIH-Logo.png">
            <a:extLst>
              <a:ext uri="{FF2B5EF4-FFF2-40B4-BE49-F238E27FC236}">
                <a16:creationId xmlns:a16="http://schemas.microsoft.com/office/drawing/2014/main" id="{957854B1-832E-45E6-9260-83573331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7">
            <a:extLst>
              <a:ext uri="{FF2B5EF4-FFF2-40B4-BE49-F238E27FC236}">
                <a16:creationId xmlns:a16="http://schemas.microsoft.com/office/drawing/2014/main" id="{CBF93F95-53E2-44BF-A80F-AFEAACA3EE80}"/>
              </a:ext>
            </a:extLst>
          </p:cNvPr>
          <p:cNvSpPr txBox="1">
            <a:spLocks/>
          </p:cNvSpPr>
          <p:nvPr/>
        </p:nvSpPr>
        <p:spPr>
          <a:xfrm>
            <a:off x="528232" y="117838"/>
            <a:ext cx="10363200" cy="85757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it-IT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Phase 4 — Multi-Agent AI Orchestration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210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9617" y="1332133"/>
            <a:ext cx="11532765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— Attack Graph Correlator (attack_graph.py):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Models entities (email,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domain, subnet,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msgid_domain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a directed graph.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Discovers coordinated phishing waves across distributed senders via Degree and Betweenness Centrality.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campaigns when 3$ emails share infrastructure hubs.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 — Autonomous Self-Healing (self_healing.py):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human response delays through autonomous policy adaptation: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75$ (Quarantine): Auto-appends malicious IP &amp; domain to firewall blocklists.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feedback: Dynamically tightens anomaly thresholds and expands suspicious hour matrices.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full, tamper-evident audit log for SOC governance.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41515" y="-169428"/>
            <a:ext cx="11136085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Phase 5 &amp; 6 — Attack Graphs &amp; Self-Healing Defense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60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Technology Stack &amp; Implementation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49D1124-50EE-4230-B418-EB8A85924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2611"/>
              </p:ext>
            </p:extLst>
          </p:nvPr>
        </p:nvGraphicFramePr>
        <p:xfrm>
          <a:off x="914399" y="1048837"/>
          <a:ext cx="10104699" cy="5486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68233">
                  <a:extLst>
                    <a:ext uri="{9D8B030D-6E8A-4147-A177-3AD203B41FA5}">
                      <a16:colId xmlns:a16="http://schemas.microsoft.com/office/drawing/2014/main" val="3857567538"/>
                    </a:ext>
                  </a:extLst>
                </a:gridCol>
                <a:gridCol w="3368233">
                  <a:extLst>
                    <a:ext uri="{9D8B030D-6E8A-4147-A177-3AD203B41FA5}">
                      <a16:colId xmlns:a16="http://schemas.microsoft.com/office/drawing/2014/main" val="4042805539"/>
                    </a:ext>
                  </a:extLst>
                </a:gridCol>
                <a:gridCol w="3368233">
                  <a:extLst>
                    <a:ext uri="{9D8B030D-6E8A-4147-A177-3AD203B41FA5}">
                      <a16:colId xmlns:a16="http://schemas.microsoft.com/office/drawing/2014/main" val="2542042294"/>
                    </a:ext>
                  </a:extLst>
                </a:gridCol>
              </a:tblGrid>
              <a:tr h="365286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Purpose &amp; Rationale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124472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Backend API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FastAPI</a:t>
                      </a:r>
                      <a:r>
                        <a:rPr lang="en-IN">
                          <a:effectLst/>
                        </a:rPr>
                        <a:t> (Python)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High-performance asynchronous routing, OpenAPI docs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313695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Agent Orchestration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CrewAI / GPT-4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Multi-agent reasoning with deterministic rule fallback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621514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Graph Analytics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NetworkX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Real-time centrality and campaign clustering 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794289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Mathematical Engine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NumPy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Vectorized Bayesian probability &amp; anomaly z-score math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4120926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Frontend Dashboard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Next.js 14 &amp; Tailwind CSS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Server-side rendering, responsive dark-mode cyber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7292351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Visualizations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D3.js &amp; Recharts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Dynamic force-directed attack graphs and threat 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769815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Live Streaming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WebSockets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Sub-second telemetry push from backend to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80991"/>
                  </a:ext>
                </a:extLst>
              </a:tr>
              <a:tr h="63925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Deployment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Docker Compose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Containerized full-stack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2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68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4589974"/>
            <a:ext cx="11532765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categorized 98.7% of suspicious samples for human-in-the-loop review.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grouped disparate emails into 4,644 correlated campaigns through shared relay nodes and domains.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Experimental Results &amp; Dataset Benchmark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0FDBA669-2B2C-4C25-9BB7-ACF0BADC6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48162"/>
              </p:ext>
            </p:extLst>
          </p:nvPr>
        </p:nvGraphicFramePr>
        <p:xfrm>
          <a:off x="1064871" y="1076446"/>
          <a:ext cx="9919504" cy="34029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959752">
                  <a:extLst>
                    <a:ext uri="{9D8B030D-6E8A-4147-A177-3AD203B41FA5}">
                      <a16:colId xmlns:a16="http://schemas.microsoft.com/office/drawing/2014/main" val="2722843037"/>
                    </a:ext>
                  </a:extLst>
                </a:gridCol>
                <a:gridCol w="4959752">
                  <a:extLst>
                    <a:ext uri="{9D8B030D-6E8A-4147-A177-3AD203B41FA5}">
                      <a16:colId xmlns:a16="http://schemas.microsoft.com/office/drawing/2014/main" val="420381897"/>
                    </a:ext>
                  </a:extLst>
                </a:gridCol>
              </a:tblGrid>
              <a:tr h="486136">
                <a:tc>
                  <a:txBody>
                    <a:bodyPr/>
                    <a:lstStyle/>
                    <a:p>
                      <a:pPr algn="l"/>
                      <a:r>
                        <a:rPr lang="en-IN" b="0" dirty="0">
                          <a:effectLst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</a:rPr>
                        <a:t>Measured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270190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Total Ingested Emails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7,446 emails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686834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Successfully Processed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6,741 emails (90.53%)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60652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Processing Throughput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16.1 emails / second</a:t>
                      </a:r>
                      <a:r>
                        <a:rPr lang="en-US" dirty="0">
                          <a:effectLst/>
                        </a:rPr>
                        <a:t> (461s total runtime)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450185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Average Decision Latency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1,238 </a:t>
                      </a:r>
                      <a:r>
                        <a:rPr lang="en-IN" b="1" dirty="0" err="1">
                          <a:effectLst/>
                        </a:rPr>
                        <a:t>ms</a:t>
                      </a:r>
                      <a:r>
                        <a:rPr lang="en-IN" b="1" dirty="0">
                          <a:effectLst/>
                        </a:rPr>
                        <a:t> per email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113142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Coordinated Campaigns Detected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4,644 campaigns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16539"/>
                  </a:ext>
                </a:extLst>
              </a:tr>
              <a:tr h="486136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Decision Breakdown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98.7% REVIEW</a:t>
                      </a:r>
                      <a:r>
                        <a:rPr lang="en-US" dirty="0">
                          <a:effectLst/>
                        </a:rPr>
                        <a:t>, 1.2% ALLOW, 0.1% ALERT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032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4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1077490"/>
            <a:ext cx="11567489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Privacy by Design: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email body, attachment payload, or message text is ever parsed, decrypted, or stored.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transparent MTA-level proxies and end-to-end encrypted email systems.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Minimization &amp; Anonymization: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Recipient and contact networks stored solely as SHA-256 one-way hashes.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addresses coarsened to /24 CIDR blocks to prevent user location tracking.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Ready: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compliance alignment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GDPR (Article 5 &amp; 25), HIPAA, and CCPA.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Privacy &amp; Security Architecture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76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1077490"/>
            <a:ext cx="11509615" cy="510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Cold-Start Window: Digital Twins require ~20 baseline emails to reach optimal confidence.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Parser Edge Cases: 9.47% malformed RFC-noncompliant headers produced parse errors.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MIME Parser: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Self-recovering fallback parsers for corrupted headers.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Digital Twins: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Cross-organization threat intelligence sharing with differential privacy.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SHAP-value feature attribution overlays for SOC analysts.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Client Integrations: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plugins for Microsoft 365, Google Workspace, and Thunderbird.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Limitations &amp; Future Roadmap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253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1077490"/>
            <a:ext cx="11440167" cy="463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High-Accuracy Without Spying: Proved email headers provide ample telemetry for threat classification without touching message bodies.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Attribution: Bayesian multi-signal fusion overcomes VPN and proxy obfuscation.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Resilience: Multi-agent reasoning coupled with self-healing rules shrinks incident response time from days to milliseconds.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Repository: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github.com/saiakkala2006/sentinal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Conclusion &amp; Key Highlights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078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63466"/>
            <a:ext cx="3203509" cy="3426237"/>
          </a:xfrm>
          <a:prstGeom prst="rect">
            <a:avLst/>
          </a:prstGeom>
        </p:spPr>
      </p:pic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652" y="73409"/>
            <a:ext cx="1530833" cy="77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5BBF6-6D0F-500D-620F-905150CC3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83" y="851521"/>
            <a:ext cx="5316449" cy="538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1285" y="1077490"/>
            <a:ext cx="11636937" cy="3564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  <a:p>
            <a:pPr algn="ctr">
              <a:lnSpc>
                <a:spcPct val="15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-5081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Q&amp;A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85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7688</TotalTime>
  <Words>1254</Words>
  <Application>Microsoft Office PowerPoint</Application>
  <PresentationFormat>Widescreen</PresentationFormat>
  <Paragraphs>139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5 &amp; 6 — Attack Graphs &amp; Self-Healing Defense</vt:lpstr>
      <vt:lpstr>Technology Stack &amp; Implementation</vt:lpstr>
      <vt:lpstr>Experimental Results &amp; Dataset Benchmark</vt:lpstr>
      <vt:lpstr>Privacy &amp; Security Architecture</vt:lpstr>
      <vt:lpstr>Limitations &amp; Future Roadmap</vt:lpstr>
      <vt:lpstr>Conclusion &amp; Key Highlights</vt:lpstr>
      <vt:lpstr>Q&amp;A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 akkala</cp:lastModifiedBy>
  <cp:revision>168</cp:revision>
  <dcterms:created xsi:type="dcterms:W3CDTF">2013-12-12T18:46:50Z</dcterms:created>
  <dcterms:modified xsi:type="dcterms:W3CDTF">2026-08-29T05:44:50Z</dcterms:modified>
  <cp:category/>
</cp:coreProperties>
</file>